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85085"/>
  </p:normalViewPr>
  <p:slideViewPr>
    <p:cSldViewPr snapToGrid="0" snapToObjects="1">
      <p:cViewPr varScale="1">
        <p:scale>
          <a:sx n="103" d="100"/>
          <a:sy n="103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33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presenting PromoGuard — an ambient promotion-integrity and loyalty agent for Australian supermarkets like Coles and Woolworths. It's my capstone for the 5-Day AI Agents Intensive, in the Agents for Business track, and I built the whole thing by vibe coding in Google Antigravity. Over the next few minutes I'll cover the problem, the agent's design, its security, the course concepts it demonstrates, and a quick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Australian grocery competes on loyalty — Coles has </a:t>
            </a:r>
            <a:r>
              <a:rPr lang="en-US" dirty="0" err="1"/>
              <a:t>Flybuys</a:t>
            </a:r>
            <a:r>
              <a:rPr lang="en-US" dirty="0"/>
              <a:t> and Woolies has Everyday Rewards. Cost-of-living pressure pushed </a:t>
            </a:r>
            <a:r>
              <a:rPr lang="en-US" dirty="0" err="1"/>
              <a:t>personalised</a:t>
            </a:r>
            <a:r>
              <a:rPr lang="en-US" dirty="0"/>
              <a:t> discounting to record volume, and at that scale you get leakage: single-use codes redeemed twice, code stacking, guest-account farming, scripted velocity abuse, and adversarial notes trying to trick an automated approver. Routing everything through an LLM is slow, costly, and itself attackable; approving everything in code leaks on the hard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0" i="0" u="none" strike="noStrike" dirty="0" err="1">
                <a:solidFill>
                  <a:srgbClr val="1F2328"/>
                </a:solidFill>
                <a:effectLst/>
                <a:latin typeface="Mona Sans VF"/>
              </a:rPr>
              <a:t>PromoGuard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 keeps the money rules deterministic. Under a hundred dollars, it auto-approves instantly in plain Python — no LLM — while still enforcing single-use, registered-member-only, and a velocity limit. A hundred dollars or more goes through a security screen, a Gemini risk review that's advisory only, and a human-in-the-loop manager decision. The model never executes a redemption, so a manipulated model can't move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"It's one ADK 2.0 architecture. Ingest parses the event — base64 Pub/Sub or plain JSON — and validates it with </a:t>
            </a:r>
            <a:r>
              <a:rPr lang="en-US" dirty="0" err="1"/>
              <a:t>Pydantic</a:t>
            </a:r>
            <a:r>
              <a:rPr lang="en-US" dirty="0"/>
              <a:t>. Route reads the promotion's value server-side and branches: low value to </a:t>
            </a:r>
            <a:r>
              <a:rPr lang="en-US" dirty="0" err="1"/>
              <a:t>auto_approve</a:t>
            </a:r>
            <a:r>
              <a:rPr lang="en-US" dirty="0"/>
              <a:t>, high value to </a:t>
            </a:r>
            <a:r>
              <a:rPr lang="en-US" dirty="0" err="1"/>
              <a:t>security_check</a:t>
            </a:r>
            <a:r>
              <a:rPr lang="en-US" dirty="0"/>
              <a:t>, then the Gemini reviewer, then the human pause, then </a:t>
            </a:r>
            <a:r>
              <a:rPr lang="en-US" dirty="0" err="1"/>
              <a:t>record_outcome</a:t>
            </a:r>
            <a:r>
              <a:rPr lang="en-US" dirty="0"/>
              <a:t>. PII is redacted before the model, and injection short-circuits straight to a human."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"Security is shifted left. PII — card numbers, Australian TFNs, emails, phones — is scrubbed before the LLM and before logs. Prompt injection never reaches the model. A </a:t>
            </a:r>
            <a:r>
              <a:rPr lang="en-AU" b="0" i="0" u="none" strike="noStrike" dirty="0" err="1">
                <a:solidFill>
                  <a:srgbClr val="1F2328"/>
                </a:solidFill>
                <a:effectLst/>
                <a:latin typeface="Mona Sans VF"/>
              </a:rPr>
              <a:t>Semgrep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 pre-commit gate blocks hardcoded API keys from leaving the workstation — during the build it caught a planted mock key and triggered the agent's own remediation loop. And a custom STRIDE skill produces a structured threat model."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capstone asks for three course concepts. </a:t>
            </a:r>
            <a:r>
              <a:rPr lang="en-US" dirty="0" err="1"/>
              <a:t>PromoGuard</a:t>
            </a:r>
            <a:r>
              <a:rPr lang="en-US" dirty="0"/>
              <a:t> is met that by showing an ADK 2.0 graph workflow, validated agent tools, a custom agent skill, layered security, and agents-cli evaluation."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</a:rPr>
              <a:t>Case A: Low-Value Auto-Approval (Deterministic Python path). </a:t>
            </a:r>
          </a:p>
          <a:p>
            <a:pPr marL="0" indent="0">
              <a:buNone/>
            </a:pPr>
            <a:endParaRPr lang="en-AU" dirty="0">
              <a:solidFill>
                <a:srgbClr val="1F2328"/>
              </a:solidFill>
            </a:endParaRPr>
          </a:p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</a:rPr>
              <a:t>This tests a promotion value under AUD 100 (</a:t>
            </a:r>
            <a:r>
              <a:rPr lang="en-AU" dirty="0"/>
              <a:t>FRESH10</a:t>
            </a:r>
            <a:r>
              <a:rPr lang="en-AU" b="0" i="0" u="none" strike="noStrike" dirty="0">
                <a:solidFill>
                  <a:srgbClr val="1F2328"/>
                </a:solidFill>
                <a:effectLst/>
              </a:rPr>
              <a:t> is worth AUD 10). The workflow will auto-approve instantly without calling the LLM or requesting manager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D5784-4778-710A-59D7-82C01FC2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8C0E3-8EF5-6730-9D44-13C1F09B2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D4568-AEA1-3AB9-BA2B-2DB10860F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Case B: High-Value Escalation (LLM Risk Assessment + Manager HITL). </a:t>
            </a:r>
          </a:p>
          <a:p>
            <a:pPr marL="0" indent="0">
              <a:buNone/>
            </a:pPr>
            <a:endParaRPr lang="en-AU" dirty="0">
              <a:solidFill>
                <a:srgbClr val="1F2328"/>
              </a:solidFill>
              <a:latin typeface="Mona Sans VF"/>
            </a:endParaRPr>
          </a:p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This tests a high-value promotion (</a:t>
            </a:r>
            <a:r>
              <a:rPr lang="en-AU" dirty="0"/>
              <a:t>BULKBUY200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 is worth AUD 200). It runs a PII scrub, calls the LLM </a:t>
            </a:r>
            <a:r>
              <a:rPr lang="en-AU" b="0" i="0" u="none" strike="noStrike" dirty="0" err="1">
                <a:solidFill>
                  <a:srgbClr val="1F2328"/>
                </a:solidFill>
                <a:effectLst/>
                <a:latin typeface="Mona Sans VF"/>
              </a:rPr>
              <a:t>risk_review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 node, and pauses the Playground session asking: "Manager: Please reply with 'approve' or 'reject'..."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45FA2-2664-AF93-A112-35FA530E47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60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E909-28DA-CC6C-3105-5171B711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50AD3-EE55-9364-EF1E-3E2959E9F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D2DD8-71FC-324C-CD0F-7A90A05D5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Case C: Automatic Rejection Due to Duplicate Promotion. </a:t>
            </a:r>
          </a:p>
          <a:p>
            <a:pPr marL="0" indent="0">
              <a:buNone/>
            </a:pPr>
            <a:endParaRPr lang="en-AU" dirty="0">
              <a:solidFill>
                <a:srgbClr val="1F2328"/>
              </a:solidFill>
              <a:latin typeface="Mona Sans VF"/>
            </a:endParaRPr>
          </a:p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Because your current database already records the </a:t>
            </a:r>
            <a:r>
              <a:rPr lang="en-AU" b="0" i="0" u="none" strike="noStrike" dirty="0" err="1">
                <a:solidFill>
                  <a:srgbClr val="1F2328"/>
                </a:solidFill>
                <a:effectLst/>
                <a:latin typeface="Mona Sans VF"/>
              </a:rPr>
              <a:t>member_ID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 from previous Case B redeeming the </a:t>
            </a:r>
            <a:r>
              <a:rPr lang="en-AU" dirty="0"/>
              <a:t>BULKBUY200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 code, the Agent will immediately reject it at the first verification step, even payment conducted in different stores, without needing to call the LLM or ask the Manager.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C12F1-B84F-77D3-6AD3-B681BF867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11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0BA67-EC12-758B-7393-BA56689CA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7F5AA-D361-928B-A99C-D018D8E0A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81097-019C-2A7B-A159-34D8AAA6D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Case D: Prompt Injection </a:t>
            </a:r>
            <a:r>
              <a:rPr lang="en-AU" b="0" i="0" u="none" strike="noStrike" dirty="0" err="1">
                <a:solidFill>
                  <a:srgbClr val="1F2328"/>
                </a:solidFill>
                <a:effectLst/>
                <a:latin typeface="Mona Sans VF"/>
              </a:rPr>
              <a:t>Defense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 (Security Checkpoint Bypass). </a:t>
            </a:r>
          </a:p>
          <a:p>
            <a:pPr marL="0" indent="0">
              <a:buNone/>
            </a:pPr>
            <a:endParaRPr lang="en-AU" dirty="0">
              <a:solidFill>
                <a:srgbClr val="1F2328"/>
              </a:solidFill>
              <a:latin typeface="Mona Sans VF"/>
            </a:endParaRPr>
          </a:p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This tests a high-value promotion where the description contains prompt injection. The security checkpoint flags the transaction, bypasses the LLM node entirely to prevent manipulation, sets the risk score to </a:t>
            </a:r>
            <a:r>
              <a:rPr lang="en-AU" dirty="0"/>
              <a:t>10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, and routes directly to the manager.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41F98-5E10-504B-E6FB-9C3272B74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68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this was vibe-coded — I was the orchestrator, Antigravity did the typing, across Antigravity 2.0, the IDE, and the CLI; every prompt is reproducible in the build guide on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low-value majority never touches the LLM, the common leakage paths are closed, and every high-value case gets a human decision and an audit trail. The code, writeup, rationale, and build guide are all in the repo in </a:t>
            </a:r>
            <a:r>
              <a:rPr lang="en-US" dirty="0" err="1"/>
              <a:t>Github</a:t>
            </a:r>
            <a:r>
              <a:rPr lang="en-US" dirty="0"/>
              <a:t>. Thanks for watching."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297680"/>
            <a:ext cx="2743200" cy="2743200"/>
          </a:xfrm>
          <a:prstGeom prst="ellipse">
            <a:avLst/>
          </a:prstGeom>
          <a:solidFill>
            <a:srgbClr val="E8A317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PromoGuard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58368" y="29718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promotion-integrity &amp; loyalty agent for Australian supermarkets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58368" y="4114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5-Day AI Agents Intensive - Capstone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Agents for Business  ·  Built by vibe coding in Google Antigravity, Antigravity IDE, and Antigravity CLI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98"/>
    </mc:Choice>
    <mc:Fallback xmlns="">
      <p:transition spd="slow" advTm="3229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promotion leakage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grocery competes on loyalty (Flybuys, Everyday Rewards). Cost-of-living pressure pushed personalised discounting to record volume — and with scale comes leakage.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/>
          <a:effectLst>
            <a:outerShdw blurRad="76200" dist="25400" dir="5400000" algn="bl" rotWithShape="0">
              <a:srgbClr val="C9D2C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2313432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 codes redeemed twice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/>
          <a:effectLst>
            <a:outerShdw blurRad="76200" dist="25400" dir="5400000" algn="bl" rotWithShape="0">
              <a:srgbClr val="C9D2C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028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0" y="2313432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stacking beyond terms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/>
          <a:effectLst>
            <a:outerShdw blurRad="76200" dist="25400" dir="5400000" algn="bl" rotWithShape="0">
              <a:srgbClr val="C9D2C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393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95360" y="2313432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/ throwaway-account farming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/>
          <a:effectLst>
            <a:outerShdw blurRad="76200" dist="25400" dir="5400000" algn="bl" rotWithShape="0">
              <a:srgbClr val="C9D2C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7280" y="3776472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velocity abuse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89120" y="36118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/>
          <a:effectLst>
            <a:outerShdw blurRad="76200" dist="25400" dir="5400000" algn="bl" rotWithShape="0">
              <a:srgbClr val="C9D2C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776472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notes manipulating approvers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138160" y="36118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/>
          <a:effectLst>
            <a:outerShdw blurRad="76200" dist="25400" dir="5400000" algn="bl" rotWithShape="0">
              <a:srgbClr val="C9D2CC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95360" y="3776472"/>
            <a:ext cx="26060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leaked $ is straight margin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8368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3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LLM-on-everything = slow, costly, and injectable.  Naive approve-in-code = leaks on the hard cases.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996"/>
    </mc:Choice>
    <mc:Fallback xmlns="">
      <p:transition spd="slow" advTm="3799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agent: value-routed triage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money rules deterministic. Spend LLM tokens only where judgement is genuinely required.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91640" y="2286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AUD 100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auto_approve — instantly, in plain Python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call: zero token cost, zero latency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single-use, registered-member-only, velocity limit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C2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2240280"/>
            <a:ext cx="640080" cy="640080"/>
          </a:xfrm>
          <a:prstGeom prst="ellipse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28652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23760" y="2286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 100 and above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46520" y="315468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screen → PII redacted, injection blocked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risk review → LOW / MEDIUM / HIGH (advisory only)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→ store manager approves via RequestInput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record_outcome → written to the loyalty ledger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30"/>
    </mc:Choice>
    <mc:Fallback xmlns="">
      <p:transition spd="slow" advTm="3703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an ADK 2.0 graph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42316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1C2A33"/>
          </a:solidFill>
          <a:ln/>
          <a:effectLst>
            <a:outerShdw blurRad="63500" dist="25400" dir="5400000" algn="bl" rotWithShape="0">
              <a:srgbClr val="B9C5B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1371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011680" y="2807208"/>
            <a:ext cx="32004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331720" y="242316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B9C5B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2423160"/>
            <a:ext cx="1371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703320" y="2807208"/>
            <a:ext cx="32004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23360" y="2423160"/>
            <a:ext cx="1371600" cy="777240"/>
          </a:xfrm>
          <a:prstGeom prst="roundRect">
            <a:avLst>
              <a:gd name="adj" fmla="val 8235"/>
            </a:avLst>
          </a:prstGeom>
          <a:solidFill>
            <a:srgbClr val="E8A317"/>
          </a:solidFill>
          <a:ln/>
          <a:effectLst>
            <a:outerShdw blurRad="63500" dist="25400" dir="5400000" algn="bl" rotWithShape="0">
              <a:srgbClr val="B9C5B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0" y="2423160"/>
            <a:ext cx="1371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 flipV="1">
            <a:off x="5394960" y="1938528"/>
            <a:ext cx="457200" cy="868680"/>
          </a:xfrm>
          <a:prstGeom prst="line">
            <a:avLst/>
          </a:prstGeom>
          <a:noFill/>
          <a:ln w="254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52160" y="1938528"/>
            <a:ext cx="320040" cy="0"/>
          </a:xfrm>
          <a:prstGeom prst="line">
            <a:avLst/>
          </a:prstGeom>
          <a:noFill/>
          <a:ln w="25400">
            <a:solidFill>
              <a:srgbClr val="1F7A4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F7A4D"/>
          </a:solidFill>
          <a:ln/>
          <a:effectLst>
            <a:outerShdw blurRad="63500" dist="25400" dir="5400000" algn="bl" rotWithShape="0">
              <a:srgbClr val="B9C5B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auto_approve  ✓  (no LLM)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394960" y="2807208"/>
            <a:ext cx="457200" cy="868680"/>
          </a:xfrm>
          <a:prstGeom prst="line">
            <a:avLst/>
          </a:prstGeom>
          <a:noFill/>
          <a:ln w="25400">
            <a:solidFill>
              <a:srgbClr val="E8A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52160" y="3675888"/>
            <a:ext cx="320040" cy="0"/>
          </a:xfrm>
          <a:prstGeom prst="line">
            <a:avLst/>
          </a:prstGeom>
          <a:noFill/>
          <a:ln w="25400">
            <a:solidFill>
              <a:srgbClr val="E8A31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3291840"/>
            <a:ext cx="1828800" cy="777240"/>
          </a:xfrm>
          <a:prstGeom prst="roundRect">
            <a:avLst>
              <a:gd name="adj" fmla="val 8235"/>
            </a:avLst>
          </a:prstGeom>
          <a:solidFill>
            <a:srgbClr val="1C2A33"/>
          </a:solidFill>
          <a:ln/>
          <a:effectLst>
            <a:outerShdw blurRad="63500" dist="25400" dir="5400000" algn="bl" rotWithShape="0">
              <a:srgbClr val="B9C5B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32918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security_check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01000" y="3675888"/>
            <a:ext cx="27432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5320" y="3291840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13502F"/>
          </a:solidFill>
          <a:ln/>
          <a:effectLst>
            <a:outerShdw blurRad="63500" dist="25400" dir="5400000" algn="bl" rotWithShape="0">
              <a:srgbClr val="B9C5B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75320" y="3291840"/>
            <a:ext cx="16916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review_agent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966960" y="3675888"/>
            <a:ext cx="274320" cy="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241280" y="329184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E8A317"/>
          </a:solidFill>
          <a:ln/>
          <a:effectLst>
            <a:outerShdw blurRad="63500" dist="25400" dir="5400000" algn="bl" rotWithShape="0">
              <a:srgbClr val="B9C5B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41280" y="3291840"/>
            <a:ext cx="1463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 err="1">
                <a:solidFill>
                  <a:srgbClr val="1C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972800" y="4069080"/>
            <a:ext cx="0" cy="502920"/>
          </a:xfrm>
          <a:prstGeom prst="line">
            <a:avLst/>
          </a:prstGeom>
          <a:noFill/>
          <a:ln w="25400">
            <a:solidFill>
              <a:srgbClr val="5C6B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58400" y="4572000"/>
            <a:ext cx="1645920" cy="777240"/>
          </a:xfrm>
          <a:prstGeom prst="roundRect">
            <a:avLst>
              <a:gd name="adj" fmla="val 8235"/>
            </a:avLst>
          </a:prstGeom>
          <a:solidFill>
            <a:srgbClr val="1C2A33"/>
          </a:solidFill>
          <a:ln/>
          <a:effectLst>
            <a:outerShdw blurRad="63500" dist="25400" dir="5400000" algn="bl" rotWithShape="0">
              <a:srgbClr val="B9C5BD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0" y="4572000"/>
            <a:ext cx="1645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record_outcome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3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redacted before the model · prompt injection short-circuits straight to a human · the LLM is advisory and never executes a redemption.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79"/>
    </mc:Choice>
    <mc:Fallback xmlns="">
      <p:transition spd="slow" advTm="351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Secure-by-default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shifted left to the point of code inception — not bolted on at the end.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7" name="Text 5"/>
          <p:cNvSpPr/>
          <p:nvPr/>
        </p:nvSpPr>
        <p:spPr>
          <a:xfrm>
            <a:off x="1554480" y="22128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2128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numbers, Australian TFNs, emails &amp; phones scrubbed before the LLM and before logs.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27248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310128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  <p:txBody>
          <a:bodyPr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Text 10"/>
          <p:cNvSpPr/>
          <p:nvPr/>
        </p:nvSpPr>
        <p:spPr>
          <a:xfrm>
            <a:off x="1554480" y="323697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defence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23697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notes never reach the model — routed to a human and flagged as a security event.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51376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4334256"/>
            <a:ext cx="502920" cy="502920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7" name="Text 15"/>
          <p:cNvSpPr/>
          <p:nvPr/>
        </p:nvSpPr>
        <p:spPr>
          <a:xfrm>
            <a:off x="1554480" y="426110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pre-commit gate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26110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rule blocks any hardcoded API key from leaving the workstation; agent auto-remediates.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175504"/>
            <a:ext cx="10881360" cy="868680"/>
          </a:xfrm>
          <a:prstGeom prst="roundRect">
            <a:avLst>
              <a:gd name="adj" fmla="val 7368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5358384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  <p:txBody>
          <a:bodyPr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Text 20"/>
          <p:cNvSpPr/>
          <p:nvPr/>
        </p:nvSpPr>
        <p:spPr>
          <a:xfrm>
            <a:off x="1554480" y="52852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skill + agent hooks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28523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 produces threat_model.md; PreToolUse hook blocks destructive shell commands.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98"/>
    </mc:Choice>
    <mc:Fallback xmlns="">
      <p:transition spd="slow" advTm="3229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demonstrated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asks for at least three. PromoGuard shows five.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6343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2.0 graph workflow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graph, conditional edges, RequestInput human-in-the-loop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6343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36008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276088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redeem_promotion with strict Pydantic validation + business guardrails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4736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6343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03336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43416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0768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stride-threat-model skill → threat_model.md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301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6343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831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08760" y="3813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407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· injection defence · Semgrep gate · agent hooks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7408" y="36301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6343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36008" y="3831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276088" y="3813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407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agents-cli LLM-as-judge eval set across four scenarios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13"/>
    </mc:Choice>
    <mc:Fallback xmlns="">
      <p:transition spd="slow" advTm="1831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– 4 events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11580"/>
            <a:ext cx="3627120" cy="5234940"/>
          </a:xfrm>
          <a:prstGeom prst="roundRect">
            <a:avLst>
              <a:gd name="adj" fmla="val 64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853439" y="1378616"/>
            <a:ext cx="31720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FRESH10 · $45 basket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3440" y="2176271"/>
            <a:ext cx="3172020" cy="2732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</a:rPr>
              <a:t>Case A: Low-Value Auto-Approval (Deterministic Python path). </a:t>
            </a:r>
          </a:p>
          <a:p>
            <a:pPr marL="0" indent="0">
              <a:buNone/>
            </a:pPr>
            <a:endParaRPr lang="en-AU" dirty="0">
              <a:solidFill>
                <a:srgbClr val="1F2328"/>
              </a:solidFill>
            </a:endParaRPr>
          </a:p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</a:rPr>
              <a:t>This tests a promotion value under AUD 100 (</a:t>
            </a:r>
            <a:r>
              <a:rPr lang="en-AU" dirty="0"/>
              <a:t>FRESH10</a:t>
            </a:r>
            <a:r>
              <a:rPr lang="en-AU" b="0" i="0" u="none" strike="noStrike" dirty="0">
                <a:solidFill>
                  <a:srgbClr val="1F2328"/>
                </a:solidFill>
                <a:effectLst/>
              </a:rPr>
              <a:t> is worth AUD 10). The workflow will auto-approve instantly without calling the LLM or requesting manager input.</a:t>
            </a:r>
            <a:endParaRPr lang="en-US" dirty="0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A22814-2EFD-193E-A830-619D6E715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701703"/>
            <a:ext cx="7445713" cy="42546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96"/>
    </mc:Choice>
    <mc:Fallback xmlns="">
      <p:transition spd="slow" advTm="2739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86DEA-8542-DBA5-9455-7A8A5C10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188E72-F292-2EE7-B4C9-41AFAF7E32AB}"/>
              </a:ext>
            </a:extLst>
          </p:cNvPr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– 4 events</a:t>
            </a:r>
            <a:endParaRPr lang="en-US" sz="3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B820AD-9B32-37CC-CC34-17E3C7953434}"/>
              </a:ext>
            </a:extLst>
          </p:cNvPr>
          <p:cNvSpPr/>
          <p:nvPr/>
        </p:nvSpPr>
        <p:spPr>
          <a:xfrm>
            <a:off x="640080" y="1211580"/>
            <a:ext cx="3627120" cy="5234940"/>
          </a:xfrm>
          <a:prstGeom prst="roundRect">
            <a:avLst>
              <a:gd name="adj" fmla="val 64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1ABD05-973E-12A1-0F7F-EB49DFD6E6A2}"/>
              </a:ext>
            </a:extLst>
          </p:cNvPr>
          <p:cNvSpPr/>
          <p:nvPr/>
        </p:nvSpPr>
        <p:spPr>
          <a:xfrm>
            <a:off x="91440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D918EE-64FA-7F98-704E-61C13354D2B4}"/>
              </a:ext>
            </a:extLst>
          </p:cNvPr>
          <p:cNvSpPr/>
          <p:nvPr/>
        </p:nvSpPr>
        <p:spPr>
          <a:xfrm>
            <a:off x="853439" y="1378616"/>
            <a:ext cx="31720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BULKBUY200 · $600 basket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BD8682-4AC9-A2BE-E6C3-936ADC0A10EF}"/>
              </a:ext>
            </a:extLst>
          </p:cNvPr>
          <p:cNvSpPr/>
          <p:nvPr/>
        </p:nvSpPr>
        <p:spPr>
          <a:xfrm>
            <a:off x="853440" y="2176271"/>
            <a:ext cx="3172020" cy="3226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Case B: High-Value Escalation (LLM Risk Assessment + Manager HITL). </a:t>
            </a:r>
          </a:p>
          <a:p>
            <a:pPr marL="0" indent="0">
              <a:buNone/>
            </a:pPr>
            <a:endParaRPr lang="en-AU" dirty="0">
              <a:solidFill>
                <a:srgbClr val="1F2328"/>
              </a:solidFill>
              <a:latin typeface="Mona Sans VF"/>
            </a:endParaRPr>
          </a:p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This tests a high-value promotion (</a:t>
            </a:r>
            <a:r>
              <a:rPr lang="en-AU" dirty="0"/>
              <a:t>BULKBUY200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 is worth AUD 200). It runs a PII scrub, calls the LLM </a:t>
            </a:r>
            <a:r>
              <a:rPr lang="en-AU" b="0" i="0" u="none" strike="noStrike" dirty="0" err="1">
                <a:solidFill>
                  <a:srgbClr val="1F2328"/>
                </a:solidFill>
                <a:effectLst/>
                <a:latin typeface="Mona Sans VF"/>
              </a:rPr>
              <a:t>risk_review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 node, and pauses the Playground session asking: "Manager: Please reply with 'approve' or 'reject'..."</a:t>
            </a:r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6C4380-A2AD-DFA3-0BCC-A1D7DB83B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85" y="1636498"/>
            <a:ext cx="7665059" cy="438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21"/>
    </mc:Choice>
    <mc:Fallback xmlns="">
      <p:transition spd="slow" advTm="2522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DBDF9-0A3B-83F0-317D-2CD930CD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EBE474-44B2-6AF6-02AE-BEEEEE49B47E}"/>
              </a:ext>
            </a:extLst>
          </p:cNvPr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– 4 events</a:t>
            </a:r>
            <a:endParaRPr lang="en-US" sz="3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3A76A2-3245-88AA-09F4-952BA24BEFE8}"/>
              </a:ext>
            </a:extLst>
          </p:cNvPr>
          <p:cNvSpPr/>
          <p:nvPr/>
        </p:nvSpPr>
        <p:spPr>
          <a:xfrm>
            <a:off x="640080" y="1211580"/>
            <a:ext cx="3627120" cy="5234940"/>
          </a:xfrm>
          <a:prstGeom prst="roundRect">
            <a:avLst>
              <a:gd name="adj" fmla="val 64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498314-0F22-6DB7-272B-7910768E7D83}"/>
              </a:ext>
            </a:extLst>
          </p:cNvPr>
          <p:cNvSpPr/>
          <p:nvPr/>
        </p:nvSpPr>
        <p:spPr>
          <a:xfrm>
            <a:off x="91440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CE70514-0F56-7414-5892-535056EFE7B5}"/>
              </a:ext>
            </a:extLst>
          </p:cNvPr>
          <p:cNvSpPr/>
          <p:nvPr/>
        </p:nvSpPr>
        <p:spPr>
          <a:xfrm>
            <a:off x="853439" y="1378616"/>
            <a:ext cx="31720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BULKBUY200 · DUPLICATION PROMO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7C409B3-A4FD-5534-8538-53672E4E5BED}"/>
              </a:ext>
            </a:extLst>
          </p:cNvPr>
          <p:cNvSpPr/>
          <p:nvPr/>
        </p:nvSpPr>
        <p:spPr>
          <a:xfrm>
            <a:off x="853440" y="2176270"/>
            <a:ext cx="3172020" cy="347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Case C: Automatic Rejection Due to Duplicate Promotion. </a:t>
            </a:r>
          </a:p>
          <a:p>
            <a:pPr marL="0" indent="0">
              <a:buNone/>
            </a:pPr>
            <a:endParaRPr lang="en-AU" dirty="0">
              <a:solidFill>
                <a:srgbClr val="1F2328"/>
              </a:solidFill>
              <a:latin typeface="Mona Sans VF"/>
            </a:endParaRPr>
          </a:p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Because your current database already records </a:t>
            </a:r>
            <a:r>
              <a:rPr lang="en-AU" dirty="0"/>
              <a:t>member_878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 redeeming the </a:t>
            </a:r>
            <a:r>
              <a:rPr lang="en-AU" dirty="0"/>
              <a:t>BULKBUY200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 code, the Agent will immediately reject it at the first verification step, even payment conducted in different stores, without needing to call the LLM or ask the Manager.</a:t>
            </a:r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43C5D7-CA48-84D3-7C10-37E56F204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0" y="1608364"/>
            <a:ext cx="7772400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2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6"/>
    </mc:Choice>
    <mc:Fallback xmlns="">
      <p:transition spd="slow" advTm="2519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5E031-0162-E92F-27E1-22727C2D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8E2B87-32BB-94D5-3241-A05BF83B029D}"/>
              </a:ext>
            </a:extLst>
          </p:cNvPr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– 4 events</a:t>
            </a:r>
            <a:endParaRPr lang="en-US" sz="3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01F0F5-2F85-8E2A-62F0-6909A20C5A0F}"/>
              </a:ext>
            </a:extLst>
          </p:cNvPr>
          <p:cNvSpPr/>
          <p:nvPr/>
        </p:nvSpPr>
        <p:spPr>
          <a:xfrm>
            <a:off x="640080" y="1211580"/>
            <a:ext cx="3627120" cy="5234940"/>
          </a:xfrm>
          <a:prstGeom prst="roundRect">
            <a:avLst>
              <a:gd name="adj" fmla="val 64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7F76CC-8979-8B41-C0CA-D79F4018BBFA}"/>
              </a:ext>
            </a:extLst>
          </p:cNvPr>
          <p:cNvSpPr/>
          <p:nvPr/>
        </p:nvSpPr>
        <p:spPr>
          <a:xfrm>
            <a:off x="914400" y="2304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6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014BDD-D74B-1300-7DC7-CFD3F716E99D}"/>
              </a:ext>
            </a:extLst>
          </p:cNvPr>
          <p:cNvSpPr/>
          <p:nvPr/>
        </p:nvSpPr>
        <p:spPr>
          <a:xfrm>
            <a:off x="853439" y="1378616"/>
            <a:ext cx="317202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BULKBUY200 · MELWARES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427E94-5304-C713-A30C-80F6D8CD4C2B}"/>
              </a:ext>
            </a:extLst>
          </p:cNvPr>
          <p:cNvSpPr/>
          <p:nvPr/>
        </p:nvSpPr>
        <p:spPr>
          <a:xfrm>
            <a:off x="853440" y="2176270"/>
            <a:ext cx="3172020" cy="347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Case D: Prompt Injection </a:t>
            </a:r>
            <a:r>
              <a:rPr lang="en-AU" b="0" i="0" u="none" strike="noStrike" dirty="0" err="1">
                <a:solidFill>
                  <a:srgbClr val="1F2328"/>
                </a:solidFill>
                <a:effectLst/>
                <a:latin typeface="Mona Sans VF"/>
              </a:rPr>
              <a:t>Defense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 (Security Checkpoint Bypass). </a:t>
            </a:r>
          </a:p>
          <a:p>
            <a:pPr marL="0" indent="0">
              <a:buNone/>
            </a:pPr>
            <a:endParaRPr lang="en-AU" dirty="0">
              <a:solidFill>
                <a:srgbClr val="1F2328"/>
              </a:solidFill>
              <a:latin typeface="Mona Sans VF"/>
            </a:endParaRPr>
          </a:p>
          <a:p>
            <a:pPr marL="0" indent="0">
              <a:buNone/>
            </a:pP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This tests a high-value promotion where the description contains prompt injection. The security checkpoint flags the transaction, bypasses the LLM node entirely to prevent manipulation, sets the risk score to </a:t>
            </a:r>
            <a:r>
              <a:rPr lang="en-AU" dirty="0"/>
              <a:t>10</a:t>
            </a:r>
            <a:r>
              <a:rPr lang="en-AU" b="0" i="0" u="none" strike="noStrike" dirty="0">
                <a:solidFill>
                  <a:srgbClr val="1F2328"/>
                </a:solidFill>
                <a:effectLst/>
                <a:latin typeface="Mona Sans VF"/>
              </a:rPr>
              <a:t>, and routes directly to the manager.</a:t>
            </a:r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2E5A8F-3ABB-0CD3-FC88-BE1FFE33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0" y="1605794"/>
            <a:ext cx="7772400" cy="44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6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567"/>
    </mc:Choice>
    <mc:Fallback xmlns="">
      <p:transition spd="slow" advTm="2456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vibe coding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the architect; Antigravity did the typing. Every step is a reproducible prompt in docs/BUILD_GUIDE.md.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2.0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 — launch &amp; monitor the build conversations in parallel.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IDE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9260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&amp; review — auxiliary pane shows generated files; plan/approve loop.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4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2103120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1350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0" y="21031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CLI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Terminal-native — uvx setup, scaffold, autonomous runs, evals, CI.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solidFill>
            <a:srgbClr val="EAF3E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uvx google-agents-cli setup  →  scaffold  →  graph core  →  security  →  STRIDE skill  →  Semgrep gate  →  TDD tests (GREEN)  →  agents-cli eval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98"/>
    </mc:Choice>
    <mc:Fallback xmlns="">
      <p:transition spd="slow" advTm="2039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1188720"/>
            <a:ext cx="3108960" cy="3108960"/>
          </a:xfrm>
          <a:prstGeom prst="ellipse">
            <a:avLst/>
          </a:prstGeom>
          <a:solidFill>
            <a:srgbClr val="E8A317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63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96112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on the low-value majority of redemptions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63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317"/>
                </a:solidFill>
                <a:latin typeface="Cambria" pitchFamily="34" charset="0"/>
              </a:rPr>
              <a:t>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99432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paths closed: reuse · guests · velocity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2634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75320" y="1828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302752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cases get a human decision + audit trail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" y="3977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Pub/Sub → Agent Runtime, plus a FastAPI manager dashboard for paused redemptions.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Writeup · Rationale · Build guide — all in the repo.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" y="5669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watching.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25"/>
    </mc:Choice>
    <mc:Fallback xmlns="">
      <p:transition spd="slow" advTm="1912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1583</Words>
  <Application>Microsoft Macintosh PowerPoint</Application>
  <PresentationFormat>Widescreen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PromoGuard</dc:title>
  <dc:subject>PptxGenJS Presentation</dc:subject>
  <dc:creator>Kaggle Capstone</dc:creator>
  <cp:lastModifiedBy>Hua Ngo Quoc Thinh</cp:lastModifiedBy>
  <cp:revision>16</cp:revision>
  <dcterms:created xsi:type="dcterms:W3CDTF">2026-06-27T17:53:18Z</dcterms:created>
  <dcterms:modified xsi:type="dcterms:W3CDTF">2026-06-29T08:35:26Z</dcterms:modified>
</cp:coreProperties>
</file>